
<file path=[Content_Types].xml><?xml version="1.0" encoding="utf-8"?>
<Types xmlns="http://schemas.openxmlformats.org/package/2006/content-types">
  <Default Extension="photo-1498084393753-b411b2d26b34" ContentType="image/photo-1498084393753-b411b2d26b34"/>
  <Default Extension="photo-1537432376769-00f5c2f4c8d2" ContentType="image/photo-1537432376769-00f5c2f4c8d2"/>
  <Default Extension="photo-1549465220-1a8b9238cd48" ContentType="image/photo-1549465220-1a8b9238cd48"/>
  <Default Extension="photo-1614064641938-3bbee52942c7" ContentType="image/photo-1614064641938-3bbee52942c7"/>
  <Default Extension="photo-1633265486064-086b219458ec" ContentType="image/photo-1633265486064-086b219458ec"/>
  <Default Extension="photo-1674027444485-cec3da58eef4" ContentType="image/photo-1674027444485-cec3da58eef4"/>
  <Default Extension="photo-1683009427041-d810728a7cb6" ContentType="image/photo-1683009427041-d810728a7cb6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9" d="100"/>
          <a:sy n="129" d="100"/>
        </p:scale>
        <p:origin x="96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4195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hoto-1549465220-1a8b9238cd48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hoto-1614064641938-3bbee52942c7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hoto-1683009427041-d810728a7cb6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hoto-1498084393753-b411b2d26b34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hoto-1537432376769-00f5c2f4c8d2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hoto-1633265486064-086b219458ec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hoto-1674027444485-cec3da58eef4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01" y="406301"/>
            <a:ext cx="3976985" cy="4330898"/>
          </a:xfrm>
          <a:prstGeom prst="roundRect">
            <a:avLst>
              <a:gd name="adj" fmla="val 3832"/>
            </a:avLst>
          </a:prstGeom>
          <a:solidFill>
            <a:srgbClr val="1A1A1A"/>
          </a:solidFill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15826" y="415826"/>
            <a:ext cx="3957935" cy="406301"/>
          </a:xfrm>
          <a:prstGeom prst="rect">
            <a:avLst/>
          </a:prstGeom>
          <a:solidFill>
            <a:srgbClr val="25252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15826" y="817364"/>
            <a:ext cx="3957935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93527" y="550664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FF5F5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96677" y="550664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FFBD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99827" y="550664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27CA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329779" y="542776"/>
            <a:ext cx="18514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claude-code — ~/my-project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8976" y="1025277"/>
            <a:ext cx="36226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0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claude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18976" y="1244352"/>
            <a:ext cx="3622667" cy="223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60"/>
              </a:lnSpc>
              <a:buNone/>
            </a:pPr>
            <a:r>
              <a:rPr lang="en-US" sz="11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이 함수에서 </a:t>
            </a: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버그</a:t>
            </a:r>
            <a:r>
              <a:rPr lang="en-US" sz="11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를 찾아서 수정해줘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8976" y="1671042"/>
            <a:ext cx="3551634" cy="1357166"/>
          </a:xfrm>
          <a:prstGeom prst="rect">
            <a:avLst/>
          </a:prstGeom>
          <a:solidFill>
            <a:srgbClr val="6366F1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28501" y="1671042"/>
            <a:ext cx="0" cy="971252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90426" y="1823442"/>
            <a:ext cx="32923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90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is analyzing...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90426" y="2058293"/>
            <a:ext cx="3292340" cy="431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 23:</a:t>
            </a:r>
            <a:r>
              <a:rPr lang="en-US" sz="10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null check 누락</a:t>
            </a:r>
            <a:endParaRPr lang="en-US" sz="1000" dirty="0"/>
          </a:p>
          <a:p>
            <a:pPr marL="0" indent="0" algn="l">
              <a:lnSpc>
                <a:spcPts val="1700"/>
              </a:lnSpc>
              <a:buNone/>
            </a:pPr>
            <a:r>
              <a:rPr lang="en-US" sz="10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marL="0" indent="0" algn="l">
              <a:lnSpc>
                <a:spcPts val="1700"/>
              </a:lnSpc>
              <a:buNone/>
            </a:pPr>
            <a:r>
              <a:rPr lang="en-US" sz="10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Fixed:</a:t>
            </a:r>
            <a:r>
              <a:rPr lang="en-US" sz="10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if (data?.items) {...}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8976" y="2823270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96677" y="2794695"/>
            <a:ext cx="15561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utils/parser.ts 수정 완료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43488" y="457200"/>
            <a:ext cx="355550" cy="355550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151388" y="563463"/>
            <a:ext cx="1425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&gt;_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525988" y="549176"/>
            <a:ext cx="78042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550348" y="490538"/>
            <a:ext cx="1085701" cy="288727"/>
          </a:xfrm>
          <a:prstGeom prst="roundRect">
            <a:avLst>
              <a:gd name="adj" fmla="val 70378"/>
            </a:avLst>
          </a:prstGeom>
          <a:noFill/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550348" y="490538"/>
            <a:ext cx="1107415" cy="288727"/>
          </a:xfrm>
          <a:prstGeom prst="rect">
            <a:avLst/>
          </a:prstGeom>
          <a:noFill/>
          <a:ln/>
        </p:spPr>
        <p:txBody>
          <a:bodyPr wrap="square" lIns="152400" tIns="63500" rIns="152400" bIns="635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60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INTEREST HOOK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043488" y="1141661"/>
            <a:ext cx="3592562" cy="726877"/>
          </a:xfrm>
          <a:prstGeom prst="roundRect">
            <a:avLst>
              <a:gd name="adj" fmla="val 17472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230713" y="1352699"/>
            <a:ext cx="32015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696992" y="1328886"/>
            <a:ext cx="17551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분석 &amp; 버그 수정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96992" y="1528911"/>
            <a:ext cx="17551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컨텍스트를 이해하고 정확히 수정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43488" y="2020937"/>
            <a:ext cx="3592562" cy="726877"/>
          </a:xfrm>
          <a:prstGeom prst="roundRect">
            <a:avLst>
              <a:gd name="adj" fmla="val 17472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230713" y="2231975"/>
            <a:ext cx="32015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696992" y="2208163"/>
            <a:ext cx="132980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리팩토링 &amp; 최적화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696992" y="2408188"/>
            <a:ext cx="13298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나은 코드로 자동 개선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43488" y="2900214"/>
            <a:ext cx="3592562" cy="726877"/>
          </a:xfrm>
          <a:prstGeom prst="roundRect">
            <a:avLst>
              <a:gd name="adj" fmla="val 17472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230713" y="3111252"/>
            <a:ext cx="32015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📝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696992" y="3087439"/>
            <a:ext cx="11974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코드 생성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696992" y="3287464"/>
            <a:ext cx="119743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유닛 테스트 자동 작성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43488" y="3956149"/>
            <a:ext cx="3664413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</a:t>
            </a:r>
            <a:r>
              <a:rPr lang="en-US" sz="2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AI 코딩을?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5043488" y="4495800"/>
            <a:ext cx="36644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buNone/>
            </a:pPr>
            <a:r>
              <a:rPr lang="en-US" sz="11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Anthropic 공식 AI 코딩 에이전트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12046" y="0"/>
            <a:ext cx="0" cy="5143500"/>
          </a:xfrm>
          <a:prstGeom prst="line">
            <a:avLst/>
          </a:prstGeom>
          <a:noFill/>
          <a:ln w="952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7950" y="507950"/>
            <a:ext cx="304800" cy="304800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90401" y="588913"/>
            <a:ext cx="1425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&gt;_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251" y="574625"/>
            <a:ext cx="78042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7950" y="2298948"/>
            <a:ext cx="2541210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07950" y="2999929"/>
            <a:ext cx="25412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200"/>
              </a:spcBef>
              <a:buNone/>
            </a:pPr>
            <a:r>
              <a:rPr lang="en-US" sz="12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도입을 위한 가이드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7950" y="4483001"/>
            <a:ext cx="25412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Introduction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024759" y="752921"/>
            <a:ext cx="787301" cy="244376"/>
          </a:xfrm>
          <a:prstGeom prst="roundRect">
            <a:avLst>
              <a:gd name="adj" fmla="val 20788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024759" y="752921"/>
            <a:ext cx="803047" cy="244376"/>
          </a:xfrm>
          <a:prstGeom prst="rect">
            <a:avLst/>
          </a:prstGeom>
          <a:noFill/>
          <a:ln/>
        </p:spPr>
        <p:txBody>
          <a:bodyPr wrap="square" lIns="127000" tIns="50800" rIns="127000" bIns="5080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PROBLEMS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939010" y="789384"/>
            <a:ext cx="8226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우려하는 점들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034284" y="1149697"/>
            <a:ext cx="0" cy="860227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145310" y="1159222"/>
            <a:ext cx="2072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00860" y="1149697"/>
            <a:ext cx="101026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할루시네이션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43711" y="1173510"/>
            <a:ext cx="123569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결과물 품질 보장?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45310" y="1479798"/>
            <a:ext cx="2072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00860" y="1470273"/>
            <a:ext cx="73276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유출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71654" y="1494086"/>
            <a:ext cx="10606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코드가 외부로?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45310" y="1800374"/>
            <a:ext cx="2072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00860" y="1790849"/>
            <a:ext cx="50520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난이도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48560" y="1814661"/>
            <a:ext cx="96684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AB3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CLI 진입 장벽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024759" y="2263825"/>
            <a:ext cx="1069181" cy="244376"/>
          </a:xfrm>
          <a:prstGeom prst="roundRect">
            <a:avLst>
              <a:gd name="adj" fmla="val 20788"/>
            </a:avLst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024759" y="2263825"/>
            <a:ext cx="1090565" cy="244376"/>
          </a:xfrm>
          <a:prstGeom prst="rect">
            <a:avLst/>
          </a:prstGeom>
          <a:noFill/>
          <a:ln/>
        </p:spPr>
        <p:txBody>
          <a:bodyPr wrap="square" lIns="127000" tIns="50800" rIns="127000" bIns="5080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TURNING POINT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034284" y="2660600"/>
            <a:ext cx="0" cy="219075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4145310" y="2660600"/>
            <a:ext cx="458055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안 쓸 건가?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024759" y="3133576"/>
            <a:ext cx="822275" cy="244376"/>
          </a:xfrm>
          <a:prstGeom prst="roundRect">
            <a:avLst>
              <a:gd name="adj" fmla="val 20788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024759" y="3133576"/>
            <a:ext cx="838721" cy="244376"/>
          </a:xfrm>
          <a:prstGeom prst="rect">
            <a:avLst/>
          </a:prstGeom>
          <a:noFill/>
          <a:ln/>
        </p:spPr>
        <p:txBody>
          <a:bodyPr wrap="square" lIns="127000" tIns="50800" rIns="127000" bIns="5080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SOLUTIONS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973985" y="3170039"/>
            <a:ext cx="119030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Code로 해결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034284" y="3530352"/>
            <a:ext cx="0" cy="860227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4145310" y="3539877"/>
            <a:ext cx="2072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00860" y="3530352"/>
            <a:ext cx="90111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난이도 해결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536704" y="3554164"/>
            <a:ext cx="90931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2C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설치 &amp; MCP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145310" y="3860453"/>
            <a:ext cx="2072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00860" y="3850928"/>
            <a:ext cx="73276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해결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371654" y="3874740"/>
            <a:ext cx="8604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Permissions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145310" y="4181029"/>
            <a:ext cx="2072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00860" y="4171504"/>
            <a:ext cx="140616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할루시네이션 해결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031855" y="4195316"/>
            <a:ext cx="10758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A855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Plan &amp; Context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01" y="472976"/>
            <a:ext cx="1013222" cy="304800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72976"/>
            <a:ext cx="1033486" cy="30480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PROBLEM 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571923" y="406301"/>
            <a:ext cx="202052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할루시네이션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06301" y="1098351"/>
            <a:ext cx="3759398" cy="1739847"/>
          </a:xfrm>
          <a:prstGeom prst="roundRect">
            <a:avLst>
              <a:gd name="adj" fmla="val 9195"/>
            </a:avLst>
          </a:prstGeom>
          <a:solidFill>
            <a:srgbClr val="EF4444">
              <a:alpha val="10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9318" y="1287363"/>
            <a:ext cx="3193363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500" dirty="0">
                <a:solidFill>
                  <a:srgbClr val="FCA5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"ChatGPT는 쓰지만</a:t>
            </a:r>
            <a:endParaRPr lang="en-US" sz="1500" dirty="0"/>
          </a:p>
          <a:p>
            <a:pPr marL="0" indent="0" algn="l">
              <a:lnSpc>
                <a:spcPts val="2700"/>
              </a:lnSpc>
              <a:buNone/>
            </a:pPr>
            <a:r>
              <a:rPr lang="en-US" sz="1500" dirty="0">
                <a:solidFill>
                  <a:srgbClr val="FCA5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예측이 어렵기 때문에</a:t>
            </a:r>
            <a:endParaRPr lang="en-US" sz="1500" dirty="0"/>
          </a:p>
          <a:p>
            <a:pPr marL="0" indent="0" algn="l">
              <a:lnSpc>
                <a:spcPts val="2700"/>
              </a:lnSpc>
              <a:buNone/>
            </a:pPr>
            <a:r>
              <a:rPr lang="en-US" sz="1500" dirty="0">
                <a:solidFill>
                  <a:srgbClr val="FCA5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500" dirty="0"/>
          </a:p>
          <a:p>
            <a:pPr marL="0" indent="0" algn="l">
              <a:lnSpc>
                <a:spcPts val="2700"/>
              </a:lnSpc>
              <a:buNone/>
            </a:pPr>
            <a:r>
              <a:rPr lang="en-US" sz="15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프로젝트에 가져오는 건 좀...</a:t>
            </a:r>
            <a:r>
              <a:rPr lang="en-US" sz="1500" dirty="0">
                <a:solidFill>
                  <a:srgbClr val="FCA5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06301" y="3162002"/>
            <a:ext cx="1803499" cy="1009650"/>
          </a:xfrm>
          <a:prstGeom prst="roundRect">
            <a:avLst>
              <a:gd name="adj" fmla="val 10063"/>
            </a:avLst>
          </a:prstGeom>
          <a:solidFill>
            <a:srgbClr val="EF4444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43714" y="3314402"/>
            <a:ext cx="1528673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3714" y="3723977"/>
            <a:ext cx="15286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CA5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코드 수정률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3714" y="3876377"/>
            <a:ext cx="15286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 사람 작성 코드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362200" y="3162002"/>
            <a:ext cx="1803499" cy="1009650"/>
          </a:xfrm>
          <a:prstGeom prst="roundRect">
            <a:avLst>
              <a:gd name="adj" fmla="val 10063"/>
            </a:avLst>
          </a:prstGeom>
          <a:solidFill>
            <a:srgbClr val="EF4444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499613" y="3314402"/>
            <a:ext cx="1528673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499613" y="3723977"/>
            <a:ext cx="15286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CA5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수락률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499613" y="3876377"/>
            <a:ext cx="15286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46% 제안 중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06301" y="4176415"/>
            <a:ext cx="3759398" cy="0"/>
          </a:xfrm>
          <a:prstGeom prst="line">
            <a:avLst/>
          </a:prstGeom>
          <a:noFill/>
          <a:ln w="952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06301" y="4333577"/>
            <a:ext cx="383458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결과물의 품질을 보장할 수 없다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6301" y="4600277"/>
            <a:ext cx="38345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Source: GitClear 2024, GitHub Copilot Research</a:t>
            </a:r>
            <a:endParaRPr lang="en-US" sz="800" dirty="0"/>
          </a:p>
        </p:txBody>
      </p:sp>
      <p:pic>
        <p:nvPicPr>
          <p:cNvPr id="18" name="Image 0" descr="https://images.unsplash.com/photo-1549465220-1a8b9238cd48?w=600&amp;q=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0"/>
            <a:ext cx="4572000" cy="5149453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4572000" y="0"/>
            <a:ext cx="4572000" cy="5149453"/>
          </a:xfrm>
          <a:prstGeom prst="rect">
            <a:avLst/>
          </a:prstGeom>
          <a:solidFill>
            <a:srgbClr val="0A0A0A">
              <a:alpha val="3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617909" y="1392138"/>
            <a:ext cx="2480033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600"/>
              </a:spcAft>
              <a:buNone/>
            </a:pPr>
            <a:r>
              <a:rPr lang="en-US" sz="4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🎁</a:t>
            </a:r>
            <a:endParaRPr lang="en-US" sz="4800" dirty="0"/>
          </a:p>
        </p:txBody>
      </p:sp>
      <p:sp>
        <p:nvSpPr>
          <p:cNvPr id="21" name="Text 18"/>
          <p:cNvSpPr/>
          <p:nvPr/>
        </p:nvSpPr>
        <p:spPr>
          <a:xfrm>
            <a:off x="5617909" y="2414439"/>
            <a:ext cx="2480033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선물 포장지에 감싼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5617909" y="2887414"/>
            <a:ext cx="2480033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쓰레기</a:t>
            </a:r>
            <a:endParaRPr lang="en-US" sz="2800" dirty="0"/>
          </a:p>
        </p:txBody>
      </p:sp>
      <p:sp>
        <p:nvSpPr>
          <p:cNvPr id="23" name="Text 20"/>
          <p:cNvSpPr/>
          <p:nvPr/>
        </p:nvSpPr>
        <p:spPr>
          <a:xfrm>
            <a:off x="5617909" y="3566815"/>
            <a:ext cx="248003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600"/>
              </a:spcBef>
              <a:buNone/>
            </a:pPr>
            <a:r>
              <a:rPr lang="en-US" sz="11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예쁘게 포장된 잘못된 정보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750201" y="4724102"/>
            <a:ext cx="1426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unsplash.com/photo-1614064641938-3bbee52942c7?w=1200&amp;q=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>
              <a:alpha val="9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07950" y="492026"/>
            <a:ext cx="1013222" cy="304800"/>
          </a:xfrm>
          <a:prstGeom prst="roundRect">
            <a:avLst>
              <a:gd name="adj" fmla="val 2500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507950" y="492026"/>
            <a:ext cx="1033486" cy="30480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PROBLEM 02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673572" y="406301"/>
            <a:ext cx="1578313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유출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8496151" y="558701"/>
            <a:ext cx="1426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07950" y="1136452"/>
            <a:ext cx="3937099" cy="2157413"/>
          </a:xfrm>
          <a:prstGeom prst="roundRect">
            <a:avLst>
              <a:gd name="adj" fmla="val 7064"/>
            </a:avLst>
          </a:prstGeom>
          <a:solidFill>
            <a:srgbClr val="F97316">
              <a:alpha val="15000"/>
            </a:srgbClr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771376" y="1399877"/>
            <a:ext cx="609600" cy="609600"/>
          </a:xfrm>
          <a:prstGeom prst="roundRect">
            <a:avLst>
              <a:gd name="adj" fmla="val 20833"/>
            </a:avLst>
          </a:prstGeom>
          <a:solidFill>
            <a:srgbClr val="F97316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866924" y="1499890"/>
            <a:ext cx="426875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🔑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771376" y="2161877"/>
            <a:ext cx="347845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키가 외부로?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71376" y="2542877"/>
            <a:ext cx="3478453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.env 파일의 API 키가</a:t>
            </a:r>
            <a:endParaRPr lang="en-US" sz="1200" dirty="0"/>
          </a:p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AI에게 노출되면 어떡해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698950" y="1136452"/>
            <a:ext cx="3937099" cy="2157413"/>
          </a:xfrm>
          <a:prstGeom prst="roundRect">
            <a:avLst>
              <a:gd name="adj" fmla="val 7064"/>
            </a:avLst>
          </a:prstGeom>
          <a:solidFill>
            <a:srgbClr val="F97316">
              <a:alpha val="15000"/>
            </a:srgbClr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962376" y="1399877"/>
            <a:ext cx="609600" cy="609600"/>
          </a:xfrm>
          <a:prstGeom prst="roundRect">
            <a:avLst>
              <a:gd name="adj" fmla="val 20833"/>
            </a:avLst>
          </a:prstGeom>
          <a:solidFill>
            <a:srgbClr val="F97316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057924" y="1499890"/>
            <a:ext cx="426875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💳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4962376" y="2161877"/>
            <a:ext cx="347845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민감 정보 유출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962376" y="2542877"/>
            <a:ext cx="3478453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credentials, secrets 파일이</a:t>
            </a:r>
            <a:endParaRPr lang="en-US" sz="1200" dirty="0"/>
          </a:p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컨텍스트에 포함되면?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07950" y="3547765"/>
            <a:ext cx="2607766" cy="1022152"/>
          </a:xfrm>
          <a:prstGeom prst="roundRect">
            <a:avLst>
              <a:gd name="adj" fmla="val 9940"/>
            </a:avLst>
          </a:prstGeom>
          <a:solidFill>
            <a:srgbClr val="F97316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663128" y="3725466"/>
            <a:ext cx="229741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97%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663128" y="4096941"/>
            <a:ext cx="229741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침해 기업 중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63128" y="4249341"/>
            <a:ext cx="22974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액세스 제어 부재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3268117" y="3547765"/>
            <a:ext cx="2607766" cy="1022152"/>
          </a:xfrm>
          <a:prstGeom prst="roundRect">
            <a:avLst>
              <a:gd name="adj" fmla="val 9940"/>
            </a:avLst>
          </a:prstGeom>
          <a:solidFill>
            <a:srgbClr val="F97316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3423294" y="3725466"/>
            <a:ext cx="229741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$670K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3423294" y="4096941"/>
            <a:ext cx="229741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Shadow AI로 인한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3423294" y="4249341"/>
            <a:ext cx="22974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침해 비용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6028283" y="3547765"/>
            <a:ext cx="2607766" cy="1022152"/>
          </a:xfrm>
          <a:prstGeom prst="roundRect">
            <a:avLst>
              <a:gd name="adj" fmla="val 9940"/>
            </a:avLst>
          </a:prstGeom>
          <a:solidFill>
            <a:srgbClr val="F97316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6183460" y="3725466"/>
            <a:ext cx="229741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🏭 Samsung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183460" y="3963591"/>
            <a:ext cx="229741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ChatGPT에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183460" y="4115991"/>
            <a:ext cx="22974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소스코드 유출 (2023)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507950" y="4574679"/>
            <a:ext cx="8128099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/>
          <p:nvPr/>
        </p:nvSpPr>
        <p:spPr>
          <a:xfrm>
            <a:off x="507950" y="4782592"/>
            <a:ext cx="2426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 환경에서 AI 도입의 가장 큰 장벽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7035850" y="4806404"/>
            <a:ext cx="16322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Source: IBM X-Force, Gartner 2025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unsplash.com/photo-1683009427041-d810728a7cb6?w=800&amp;q=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2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A0A0A">
              <a:alpha val="3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06301" y="4565749"/>
            <a:ext cx="95151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50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Photo: Unsplash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825901" y="574625"/>
            <a:ext cx="1013222" cy="304800"/>
          </a:xfrm>
          <a:prstGeom prst="roundRect">
            <a:avLst>
              <a:gd name="adj" fmla="val 25000"/>
            </a:avLst>
          </a:prstGeom>
          <a:solidFill>
            <a:srgbClr val="EAB30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825901" y="574625"/>
            <a:ext cx="1033486" cy="30480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PROBLEM 03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991523" y="507950"/>
            <a:ext cx="101026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난이도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8496151" y="641300"/>
            <a:ext cx="1426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825901" y="1377702"/>
            <a:ext cx="3886352" cy="995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20"/>
              </a:lnSpc>
              <a:spcAft>
                <a:spcPts val="200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"너무 쓰기 </a:t>
            </a:r>
            <a:r>
              <a:rPr lang="en-US" sz="2800" b="1" dirty="0">
                <a:solidFill>
                  <a:srgbClr val="EAB3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어려운</a:t>
            </a:r>
            <a:r>
              <a:rPr lang="en-US" sz="2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것 같아"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4825901" y="2567585"/>
            <a:ext cx="3886352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60"/>
              </a:lnSpc>
              <a:spcAft>
                <a:spcPts val="2800"/>
              </a:spcAft>
              <a:buNone/>
            </a:pPr>
            <a:r>
              <a:rPr lang="en-US" sz="16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터미널? 명령어?</a:t>
            </a:r>
            <a:endParaRPr lang="en-US" sz="1600" dirty="0"/>
          </a:p>
          <a:p>
            <a:pPr marL="0" indent="0" algn="l">
              <a:lnSpc>
                <a:spcPts val="2560"/>
              </a:lnSpc>
              <a:spcAft>
                <a:spcPts val="2800"/>
              </a:spcAft>
              <a:buNone/>
            </a:pPr>
            <a:r>
              <a:rPr lang="en-US" sz="16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나는 GUI가 편한데...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825901" y="3632597"/>
            <a:ext cx="1147167" cy="472976"/>
          </a:xfrm>
          <a:prstGeom prst="roundRect">
            <a:avLst>
              <a:gd name="adj" fmla="val 21481"/>
            </a:avLst>
          </a:prstGeom>
          <a:solidFill>
            <a:srgbClr val="EAB308">
              <a:alpha val="10000"/>
            </a:srgbClr>
          </a:solidFill>
          <a:ln w="9525">
            <a:solidFill>
              <a:srgbClr val="EAB30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825901" y="3632597"/>
            <a:ext cx="1170111" cy="472976"/>
          </a:xfrm>
          <a:prstGeom prst="rect">
            <a:avLst/>
          </a:prstGeom>
          <a:noFill/>
          <a:ln/>
        </p:spPr>
        <p:txBody>
          <a:bodyPr wrap="square" lIns="203200" tIns="127000" rIns="203200" bIns="12700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 사용법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100018" y="3632597"/>
            <a:ext cx="1097459" cy="472976"/>
          </a:xfrm>
          <a:prstGeom prst="roundRect">
            <a:avLst>
              <a:gd name="adj" fmla="val 21481"/>
            </a:avLst>
          </a:prstGeom>
          <a:solidFill>
            <a:srgbClr val="EAB308">
              <a:alpha val="10000"/>
            </a:srgbClr>
          </a:solidFill>
          <a:ln w="9525">
            <a:solidFill>
              <a:srgbClr val="EAB30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6100018" y="3632597"/>
            <a:ext cx="1119408" cy="472976"/>
          </a:xfrm>
          <a:prstGeom prst="rect">
            <a:avLst/>
          </a:prstGeom>
          <a:noFill/>
          <a:ln/>
        </p:spPr>
        <p:txBody>
          <a:bodyPr wrap="square" lIns="203200" tIns="127000" rIns="203200" bIns="12700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npm 설치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324427" y="3632597"/>
            <a:ext cx="1088529" cy="472976"/>
          </a:xfrm>
          <a:prstGeom prst="roundRect">
            <a:avLst>
              <a:gd name="adj" fmla="val 21481"/>
            </a:avLst>
          </a:prstGeom>
          <a:solidFill>
            <a:srgbClr val="EAB308">
              <a:alpha val="10000"/>
            </a:srgbClr>
          </a:solidFill>
          <a:ln w="9525">
            <a:solidFill>
              <a:srgbClr val="EAB30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7324427" y="3632597"/>
            <a:ext cx="1110299" cy="472976"/>
          </a:xfrm>
          <a:prstGeom prst="rect">
            <a:avLst/>
          </a:prstGeom>
          <a:noFill/>
          <a:ln/>
        </p:spPr>
        <p:txBody>
          <a:bodyPr wrap="square" lIns="203200" tIns="127000" rIns="203200" bIns="12700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파일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825901" y="4237137"/>
            <a:ext cx="3810149" cy="0"/>
          </a:xfrm>
          <a:prstGeom prst="line">
            <a:avLst/>
          </a:prstGeom>
          <a:noFill/>
          <a:ln w="952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4825901" y="4445050"/>
            <a:ext cx="388635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비용 vs 생산성 향상 — 투자 대비 효과가 있을까?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unsplash.com/photo-1498084393753-b411b2d26b34?w=1400&amp;q=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>
              <a:alpha val="7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3808363" y="355550"/>
            <a:ext cx="1557820" cy="374452"/>
          </a:xfrm>
          <a:prstGeom prst="rect">
            <a:avLst/>
          </a:prstGeom>
          <a:noFill/>
          <a:ln/>
        </p:spPr>
        <p:txBody>
          <a:bodyPr wrap="square" lIns="254000" tIns="101600" rIns="254000" bIns="10160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TURNING POINT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2297875" y="882402"/>
            <a:ext cx="4343013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600"/>
              </a:spcAft>
              <a:buNone/>
            </a:pPr>
            <a:r>
              <a:rPr lang="en-US" sz="3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</a:t>
            </a:r>
            <a:r>
              <a:rPr lang="en-US" sz="36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쓸 건가?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2547938" y="1695152"/>
            <a:ext cx="1249710" cy="1028700"/>
          </a:xfrm>
          <a:prstGeom prst="roundRect">
            <a:avLst>
              <a:gd name="adj" fmla="val 12346"/>
            </a:avLst>
          </a:prstGeom>
          <a:solidFill>
            <a:srgbClr val="6366F1">
              <a:alpha val="15000"/>
            </a:srgbClr>
          </a:solidFill>
          <a:ln w="9525">
            <a:solidFill>
              <a:srgbClr val="6366F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2752369" y="1857077"/>
            <a:ext cx="840846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92%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2752369" y="2266652"/>
            <a:ext cx="84084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Fortune 500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752369" y="2419052"/>
            <a:ext cx="84084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OpenAI 기술 사용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950047" y="1695152"/>
            <a:ext cx="1301948" cy="1028700"/>
          </a:xfrm>
          <a:prstGeom prst="roundRect">
            <a:avLst>
              <a:gd name="adj" fmla="val 12346"/>
            </a:avLst>
          </a:prstGeom>
          <a:solidFill>
            <a:srgbClr val="22C55E">
              <a:alpha val="15000"/>
            </a:srgbClr>
          </a:solidFill>
          <a:ln w="9525">
            <a:solidFill>
              <a:srgbClr val="22C55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153957" y="1857077"/>
            <a:ext cx="89413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6EF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55.8%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4153957" y="2266652"/>
            <a:ext cx="8941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6EF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개발자 생산성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153957" y="2419052"/>
            <a:ext cx="8941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향상 (GitHub)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404396" y="1695152"/>
            <a:ext cx="1191518" cy="1028700"/>
          </a:xfrm>
          <a:prstGeom prst="roundRect">
            <a:avLst>
              <a:gd name="adj" fmla="val 12346"/>
            </a:avLst>
          </a:prstGeom>
          <a:solidFill>
            <a:srgbClr val="FBBF24">
              <a:alpha val="15000"/>
            </a:srgbClr>
          </a:solidFill>
          <a:ln w="9525">
            <a:solidFill>
              <a:srgbClr val="FBBF2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609409" y="1857077"/>
            <a:ext cx="78149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CD3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2x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5609409" y="2266652"/>
            <a:ext cx="7814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CD3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완료 속도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609409" y="2419052"/>
            <a:ext cx="7814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McKinsey 2024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2883098" y="2901553"/>
            <a:ext cx="3377803" cy="770930"/>
          </a:xfrm>
          <a:prstGeom prst="roundRect">
            <a:avLst>
              <a:gd name="adj" fmla="val 16474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3013098" y="2973288"/>
            <a:ext cx="3377802" cy="447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6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빅테크들은 이미 AI로 </a:t>
            </a:r>
            <a:r>
              <a:rPr lang="en-US" sz="1100" b="1" dirty="0">
                <a:solidFill>
                  <a:srgbClr val="22C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생산성을 높이고</a:t>
            </a:r>
            <a:r>
              <a:rPr lang="en-US" sz="11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있고</a:t>
            </a:r>
            <a:endParaRPr lang="en-US" sz="1100" dirty="0"/>
          </a:p>
          <a:p>
            <a:pPr marL="0" indent="0" algn="ctr">
              <a:lnSpc>
                <a:spcPts val="176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그 속도는 </a:t>
            </a:r>
            <a:endParaRPr lang="en-US" sz="1100" dirty="0"/>
          </a:p>
          <a:p>
            <a:pPr marL="0" indent="0" algn="ctr">
              <a:lnSpc>
                <a:spcPts val="1760"/>
              </a:lnSpc>
              <a:buNone/>
            </a:pPr>
            <a:r>
              <a:rPr lang="en-US" sz="110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점점 가속화</a:t>
            </a:r>
            <a:r>
              <a:rPr lang="en-US" sz="11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되고 있다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039517" y="3875633"/>
            <a:ext cx="3064966" cy="812602"/>
          </a:xfrm>
          <a:prstGeom prst="rect">
            <a:avLst/>
          </a:prstGeom>
          <a:solidFill>
            <a:srgbClr val="EF4444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3039517" y="3875633"/>
            <a:ext cx="3064966" cy="812602"/>
          </a:xfrm>
          <a:prstGeom prst="roundRect">
            <a:avLst>
              <a:gd name="adj" fmla="val 15629"/>
            </a:avLst>
          </a:prstGeom>
          <a:noFill/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3329479" y="3969841"/>
            <a:ext cx="2485043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안 하면, AI를 쓰는 사람이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나보다 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빨리 일하고 퇴근</a:t>
            </a: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것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07950" y="4702522"/>
            <a:ext cx="24187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Source: McKinsey, GitHub Research, Microsoft 2024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8496151" y="4688235"/>
            <a:ext cx="1426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unsplash.com/photo-1537432376769-00f5c2f4c8d2?w=800&amp;q=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354264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4354264" cy="5143500"/>
          </a:xfrm>
          <a:prstGeom prst="rect">
            <a:avLst/>
          </a:prstGeom>
          <a:solidFill>
            <a:srgbClr val="0A0A0A">
              <a:alpha val="8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" y="490538"/>
            <a:ext cx="1052661" cy="304800"/>
          </a:xfrm>
          <a:prstGeom prst="roundRect">
            <a:avLst>
              <a:gd name="adj" fmla="val 25000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57200" y="490538"/>
            <a:ext cx="1073715" cy="30480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SOLUTION 01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636812" y="457200"/>
            <a:ext cx="152503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난이도 해결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57200" y="1157734"/>
            <a:ext cx="3439864" cy="898178"/>
          </a:xfrm>
          <a:prstGeom prst="roundRect">
            <a:avLst>
              <a:gd name="adj" fmla="val 14140"/>
            </a:avLst>
          </a:prstGeom>
          <a:solidFill>
            <a:srgbClr val="22C55E">
              <a:alpha val="15000"/>
            </a:srgbClr>
          </a:solidFill>
          <a:ln w="9525">
            <a:solidFill>
              <a:srgbClr val="22C55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44426" y="1344960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743545" y="1389311"/>
            <a:ext cx="825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50727" y="1375023"/>
            <a:ext cx="33685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4426" y="1725811"/>
            <a:ext cx="3126721" cy="142875"/>
          </a:xfrm>
          <a:prstGeom prst="rect">
            <a:avLst/>
          </a:prstGeom>
          <a:noFill/>
          <a:ln/>
        </p:spPr>
        <p:txBody>
          <a:bodyPr wrap="square" lIns="40640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 -g @anthropic-ai/claude-code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2208312"/>
            <a:ext cx="3439864" cy="898178"/>
          </a:xfrm>
          <a:prstGeom prst="roundRect">
            <a:avLst>
              <a:gd name="adj" fmla="val 14140"/>
            </a:avLst>
          </a:prstGeom>
          <a:solidFill>
            <a:srgbClr val="22C55E">
              <a:alpha val="15000"/>
            </a:srgbClr>
          </a:solidFill>
          <a:ln w="9525">
            <a:solidFill>
              <a:srgbClr val="22C55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44426" y="2395538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743545" y="2439888"/>
            <a:ext cx="825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50727" y="2425601"/>
            <a:ext cx="50520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초기화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4426" y="2776389"/>
            <a:ext cx="3126721" cy="142875"/>
          </a:xfrm>
          <a:prstGeom prst="rect">
            <a:avLst/>
          </a:prstGeom>
          <a:noFill/>
          <a:ln/>
        </p:spPr>
        <p:txBody>
          <a:bodyPr wrap="square" lIns="40640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/init → CLAUDE.md 자동 생성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7200" y="3258889"/>
            <a:ext cx="3439864" cy="898178"/>
          </a:xfrm>
          <a:prstGeom prst="roundRect">
            <a:avLst>
              <a:gd name="adj" fmla="val 14140"/>
            </a:avLst>
          </a:prstGeom>
          <a:solidFill>
            <a:srgbClr val="22C55E">
              <a:alpha val="15000"/>
            </a:srgbClr>
          </a:solidFill>
          <a:ln w="9525">
            <a:solidFill>
              <a:srgbClr val="22C55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44426" y="3446115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743545" y="3490466"/>
            <a:ext cx="825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050727" y="3476179"/>
            <a:ext cx="50520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도움말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44426" y="3826966"/>
            <a:ext cx="3126721" cy="142875"/>
          </a:xfrm>
          <a:prstGeom prst="rect">
            <a:avLst/>
          </a:prstGeom>
          <a:noFill/>
          <a:ln/>
        </p:spPr>
        <p:txBody>
          <a:bodyPr wrap="square" lIns="40640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/help → 사용 가능한 명령어 확인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57200" y="4181475"/>
            <a:ext cx="3439864" cy="504825"/>
          </a:xfrm>
          <a:prstGeom prst="rect">
            <a:avLst/>
          </a:prstGeom>
          <a:solidFill>
            <a:srgbClr val="22C55E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0"/>
          <p:cNvSpPr/>
          <p:nvPr/>
        </p:nvSpPr>
        <p:spPr>
          <a:xfrm>
            <a:off x="476250" y="4181475"/>
            <a:ext cx="0" cy="504825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647700" y="4333875"/>
            <a:ext cx="31589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C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</a:t>
            </a:r>
            <a:r>
              <a:rPr lang="en-US" sz="1200" b="1" dirty="0" err="1">
                <a:solidFill>
                  <a:srgbClr val="22C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557415" y="457200"/>
            <a:ext cx="421197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600"/>
              </a:spcAft>
              <a:buNone/>
            </a:pPr>
            <a:r>
              <a:rPr lang="en-US" sz="1100" b="1" dirty="0">
                <a:solidFill>
                  <a:srgbClr val="22C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INTEGRATIONS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57415" y="1016198"/>
            <a:ext cx="1988493" cy="1590377"/>
          </a:xfrm>
          <a:prstGeom prst="rect">
            <a:avLst/>
          </a:prstGeom>
          <a:solidFill>
            <a:srgbClr val="1A1A1A">
              <a:alpha val="3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4557415" y="1016198"/>
            <a:ext cx="1988493" cy="1590377"/>
          </a:xfrm>
          <a:prstGeom prst="roundRect">
            <a:avLst>
              <a:gd name="adj" fmla="val 9583"/>
            </a:avLst>
          </a:prstGeom>
          <a:noFill/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4806224" y="1279624"/>
            <a:ext cx="149087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000"/>
              </a:spcAft>
              <a:buNone/>
            </a:pPr>
            <a:r>
              <a:rPr lang="en-US" sz="2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📋</a:t>
            </a:r>
            <a:endParaRPr lang="en-US" sz="2800" dirty="0"/>
          </a:p>
        </p:txBody>
      </p:sp>
      <p:sp>
        <p:nvSpPr>
          <p:cNvPr id="29" name="Text 26"/>
          <p:cNvSpPr/>
          <p:nvPr/>
        </p:nvSpPr>
        <p:spPr>
          <a:xfrm>
            <a:off x="4806224" y="1882825"/>
            <a:ext cx="149087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Jira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4806224" y="2171700"/>
            <a:ext cx="149087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</a:pPr>
            <a:r>
              <a:rPr lang="en-US" sz="10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이슈 관리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698307" y="1016198"/>
            <a:ext cx="1988493" cy="1590377"/>
          </a:xfrm>
          <a:prstGeom prst="rect">
            <a:avLst/>
          </a:prstGeom>
          <a:solidFill>
            <a:srgbClr val="1A1A1A">
              <a:alpha val="3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6698307" y="1016198"/>
            <a:ext cx="1988493" cy="1590377"/>
          </a:xfrm>
          <a:prstGeom prst="roundRect">
            <a:avLst>
              <a:gd name="adj" fmla="val 9583"/>
            </a:avLst>
          </a:prstGeom>
          <a:noFill/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6947117" y="1279624"/>
            <a:ext cx="149087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000"/>
              </a:spcAft>
              <a:buNone/>
            </a:pPr>
            <a:r>
              <a:rPr lang="en-US" sz="2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🧪</a:t>
            </a:r>
            <a:endParaRPr lang="en-US" sz="2800" dirty="0"/>
          </a:p>
        </p:txBody>
      </p:sp>
      <p:sp>
        <p:nvSpPr>
          <p:cNvPr id="34" name="Text 31"/>
          <p:cNvSpPr/>
          <p:nvPr/>
        </p:nvSpPr>
        <p:spPr>
          <a:xfrm>
            <a:off x="6947117" y="1882825"/>
            <a:ext cx="149087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 Test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6947117" y="2171700"/>
            <a:ext cx="149087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</a:pPr>
            <a:r>
              <a:rPr lang="en-US" sz="10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자동화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4557415" y="2758976"/>
            <a:ext cx="1988493" cy="1590377"/>
          </a:xfrm>
          <a:prstGeom prst="rect">
            <a:avLst/>
          </a:prstGeom>
          <a:solidFill>
            <a:srgbClr val="1A1A1A">
              <a:alpha val="3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4557415" y="2758976"/>
            <a:ext cx="1988493" cy="1590377"/>
          </a:xfrm>
          <a:prstGeom prst="roundRect">
            <a:avLst>
              <a:gd name="adj" fmla="val 9583"/>
            </a:avLst>
          </a:prstGeom>
          <a:noFill/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4806224" y="3022402"/>
            <a:ext cx="149087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000"/>
              </a:spcAft>
              <a:buNone/>
            </a:pPr>
            <a:r>
              <a:rPr lang="en-US" sz="2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🔌</a:t>
            </a:r>
            <a:endParaRPr lang="en-US" sz="2800" dirty="0"/>
          </a:p>
        </p:txBody>
      </p:sp>
      <p:sp>
        <p:nvSpPr>
          <p:cNvPr id="39" name="Text 36"/>
          <p:cNvSpPr/>
          <p:nvPr/>
        </p:nvSpPr>
        <p:spPr>
          <a:xfrm>
            <a:off x="4806224" y="3625602"/>
            <a:ext cx="149087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Bruno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4806224" y="3914477"/>
            <a:ext cx="149087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</a:pPr>
            <a:r>
              <a:rPr lang="en-US" sz="10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테스트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6698307" y="2758976"/>
            <a:ext cx="1988493" cy="1590377"/>
          </a:xfrm>
          <a:prstGeom prst="rect">
            <a:avLst/>
          </a:prstGeom>
          <a:solidFill>
            <a:srgbClr val="1A1A1A">
              <a:alpha val="3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6698307" y="2758976"/>
            <a:ext cx="1988493" cy="1590377"/>
          </a:xfrm>
          <a:prstGeom prst="roundRect">
            <a:avLst>
              <a:gd name="adj" fmla="val 9583"/>
            </a:avLst>
          </a:prstGeom>
          <a:noFill/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6947117" y="3022402"/>
            <a:ext cx="149087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000"/>
              </a:spcAft>
              <a:buNone/>
            </a:pPr>
            <a:r>
              <a:rPr lang="en-US" sz="2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🎨</a:t>
            </a:r>
            <a:endParaRPr lang="en-US" sz="2800" dirty="0"/>
          </a:p>
        </p:txBody>
      </p:sp>
      <p:sp>
        <p:nvSpPr>
          <p:cNvPr id="44" name="Text 41"/>
          <p:cNvSpPr/>
          <p:nvPr/>
        </p:nvSpPr>
        <p:spPr>
          <a:xfrm>
            <a:off x="6947117" y="3625602"/>
            <a:ext cx="149087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Figma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6947117" y="3914477"/>
            <a:ext cx="149087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</a:pPr>
            <a:r>
              <a:rPr lang="en-US" sz="10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 연동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4474827" y="4514850"/>
            <a:ext cx="421197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unsplash.com/photo-1633265486064-086b219458ec?w=1200&amp;q=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" y="338138"/>
            <a:ext cx="1052661" cy="304800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57200" y="338138"/>
            <a:ext cx="1073715" cy="30480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SOLUTION 02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662261" y="304800"/>
            <a:ext cx="124009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해결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546902" y="404813"/>
            <a:ext cx="1426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853976"/>
            <a:ext cx="4551015" cy="1793677"/>
          </a:xfrm>
          <a:prstGeom prst="roundRect">
            <a:avLst>
              <a:gd name="adj" fmla="val 5664"/>
            </a:avLst>
          </a:prstGeom>
          <a:solidFill>
            <a:srgbClr val="1A1A1A"/>
          </a:solidFill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19125" y="1015901"/>
            <a:ext cx="2134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🔒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29878" y="1020663"/>
            <a:ext cx="139174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.claude/settings.json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19125" y="1317427"/>
            <a:ext cx="4227165" cy="1168301"/>
          </a:xfrm>
          <a:prstGeom prst="roundRect">
            <a:avLst>
              <a:gd name="adj" fmla="val 6522"/>
            </a:avLst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746075" y="1444377"/>
            <a:ext cx="40527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746075" y="1596777"/>
            <a:ext cx="4052730" cy="152400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"permissions": {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746075" y="1749177"/>
            <a:ext cx="4052730" cy="152400"/>
          </a:xfrm>
          <a:prstGeom prst="rect">
            <a:avLst/>
          </a:prstGeom>
          <a:noFill/>
          <a:ln/>
        </p:spPr>
        <p:txBody>
          <a:bodyPr wrap="square" lIns="30480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"allow": ["Bash(npm run:*)"],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46075" y="1901577"/>
            <a:ext cx="4052730" cy="152400"/>
          </a:xfrm>
          <a:prstGeom prst="rect">
            <a:avLst/>
          </a:prstGeom>
          <a:noFill/>
          <a:ln/>
        </p:spPr>
        <p:txBody>
          <a:bodyPr wrap="square" lIns="30480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"deny": ["Read(.env)", "Read(secrets/**)"]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746075" y="2053977"/>
            <a:ext cx="4052730" cy="152400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746075" y="2206377"/>
            <a:ext cx="40527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57200" y="2774603"/>
            <a:ext cx="2224832" cy="720626"/>
          </a:xfrm>
          <a:prstGeom prst="roundRect">
            <a:avLst>
              <a:gd name="adj" fmla="val 10574"/>
            </a:avLst>
          </a:prstGeom>
          <a:solidFill>
            <a:srgbClr val="3B82F6">
              <a:alpha val="15000"/>
            </a:srgbClr>
          </a:solidFill>
          <a:ln w="9525">
            <a:solidFill>
              <a:srgbClr val="3B82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574157" y="2911078"/>
            <a:ext cx="199091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84%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74157" y="3215878"/>
            <a:ext cx="199091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프롬프트 감소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2783532" y="2774603"/>
            <a:ext cx="2224832" cy="720626"/>
          </a:xfrm>
          <a:prstGeom prst="roundRect">
            <a:avLst>
              <a:gd name="adj" fmla="val 10574"/>
            </a:avLst>
          </a:prstGeom>
          <a:solidFill>
            <a:srgbClr val="22C55E">
              <a:alpha val="15000"/>
            </a:srgbClr>
          </a:solidFill>
          <a:ln w="9525">
            <a:solidFill>
              <a:srgbClr val="22C55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2900489" y="2911078"/>
            <a:ext cx="199091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C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읽기전용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2900489" y="3215878"/>
            <a:ext cx="199091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86EF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모드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185916" y="853976"/>
            <a:ext cx="3500884" cy="637431"/>
          </a:xfrm>
          <a:prstGeom prst="roundRect">
            <a:avLst>
              <a:gd name="adj" fmla="val 15939"/>
            </a:avLst>
          </a:prstGeom>
          <a:solidFill>
            <a:srgbClr val="3B82F6">
              <a:alpha val="10000"/>
            </a:srgbClr>
          </a:solidFill>
          <a:ln w="9525">
            <a:solidFill>
              <a:srgbClr val="3B82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322391" y="990451"/>
            <a:ext cx="32924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🛡️ /permissions 명령어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322391" y="1212652"/>
            <a:ext cx="3292492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권한 관리, 재시작 불필요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185916" y="1567607"/>
            <a:ext cx="3500884" cy="618976"/>
          </a:xfrm>
          <a:prstGeom prst="roundRect">
            <a:avLst>
              <a:gd name="adj" fmla="val 16414"/>
            </a:avLst>
          </a:prstGeom>
          <a:solidFill>
            <a:srgbClr val="3B82F6">
              <a:alpha val="10000"/>
            </a:srgbClr>
          </a:solidFill>
          <a:ln w="9525">
            <a:solidFill>
              <a:srgbClr val="3B82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5322391" y="1704082"/>
            <a:ext cx="32924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📁 설정 파일 위치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322391" y="1926282"/>
            <a:ext cx="32924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~/.claude/settings.json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185916" y="2262783"/>
            <a:ext cx="3500884" cy="637431"/>
          </a:xfrm>
          <a:prstGeom prst="roundRect">
            <a:avLst>
              <a:gd name="adj" fmla="val 15939"/>
            </a:avLst>
          </a:prstGeom>
          <a:solidFill>
            <a:srgbClr val="FBBF24">
              <a:alpha val="10000"/>
            </a:srgbClr>
          </a:solidFill>
          <a:ln w="9525">
            <a:solidFill>
              <a:srgbClr val="FBBF2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5322391" y="2399258"/>
            <a:ext cx="32924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학습 비활성화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322391" y="2621459"/>
            <a:ext cx="3292492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Settings &gt; Privacy에서 끄기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185916" y="2976414"/>
            <a:ext cx="3500884" cy="637431"/>
          </a:xfrm>
          <a:prstGeom prst="roundRect">
            <a:avLst>
              <a:gd name="adj" fmla="val 15939"/>
            </a:avLst>
          </a:prstGeom>
          <a:solidFill>
            <a:srgbClr val="A855F7">
              <a:alpha val="10000"/>
            </a:srgbClr>
          </a:solidFill>
          <a:ln w="9525">
            <a:solidFill>
              <a:srgbClr val="A855F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5322391" y="3112889"/>
            <a:ext cx="32924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A855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🔐 계층적 권한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5322391" y="3335089"/>
            <a:ext cx="3292492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Enterprise &gt; User &gt; Project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457200" y="4394299"/>
            <a:ext cx="1241971" cy="444401"/>
          </a:xfrm>
          <a:prstGeom prst="rect">
            <a:avLst/>
          </a:prstGeom>
          <a:solidFill>
            <a:srgbClr val="3B82F6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Shape 34"/>
          <p:cNvSpPr/>
          <p:nvPr/>
        </p:nvSpPr>
        <p:spPr>
          <a:xfrm>
            <a:off x="476250" y="4394299"/>
            <a:ext cx="0" cy="444401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/>
          <p:nvPr/>
        </p:nvSpPr>
        <p:spPr>
          <a:xfrm>
            <a:off x="673001" y="4521250"/>
            <a:ext cx="86543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</a:t>
            </a:r>
            <a:r>
              <a:rPr lang="en-US" sz="1100" b="1" dirty="0" err="1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6522541" y="4559350"/>
            <a:ext cx="22075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Source: docs.claude.com, Anthropic Engineering 2025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unsplash.com/photo-1674027444485-cec3da58eef4?w=1400&amp;q=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>
              <a:alpha val="9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" y="369838"/>
            <a:ext cx="1052661" cy="304800"/>
          </a:xfrm>
          <a:prstGeom prst="roundRect">
            <a:avLst>
              <a:gd name="adj" fmla="val 25000"/>
            </a:avLst>
          </a:prstGeom>
          <a:solidFill>
            <a:srgbClr val="A855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57200" y="369838"/>
            <a:ext cx="1073715" cy="30480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SOLUTION 03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662261" y="355550"/>
            <a:ext cx="2163217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할루시네이션 해결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546902" y="436513"/>
            <a:ext cx="1426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892076"/>
            <a:ext cx="1564630" cy="2727722"/>
          </a:xfrm>
          <a:prstGeom prst="roundRect">
            <a:avLst>
              <a:gd name="adj" fmla="val 8117"/>
            </a:avLst>
          </a:prstGeom>
          <a:solidFill>
            <a:srgbClr val="A855F7">
              <a:alpha val="12000"/>
            </a:srgbClr>
          </a:solidFill>
          <a:ln w="9525">
            <a:solidFill>
              <a:srgbClr val="A855F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19125" y="1054001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A855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66899" y="1106388"/>
            <a:ext cx="2134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📋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19125" y="1435001"/>
            <a:ext cx="12655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 Mode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19125" y="1657201"/>
            <a:ext cx="1265596" cy="1518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전 계획 수립</a:t>
            </a:r>
            <a:endParaRPr lang="en-US" sz="800" dirty="0"/>
          </a:p>
          <a:p>
            <a:pPr marL="0" indent="0" algn="l">
              <a:lnSpc>
                <a:spcPts val="112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 전용 분석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19125" y="3251597"/>
            <a:ext cx="1240780" cy="206276"/>
          </a:xfrm>
          <a:prstGeom prst="roundRect">
            <a:avLst>
              <a:gd name="adj" fmla="val 24627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95325" y="3302347"/>
            <a:ext cx="11101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Shift+Tab x2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2123331" y="892076"/>
            <a:ext cx="1564779" cy="2727722"/>
          </a:xfrm>
          <a:prstGeom prst="roundRect">
            <a:avLst>
              <a:gd name="adj" fmla="val 8116"/>
            </a:avLst>
          </a:prstGeom>
          <a:solidFill>
            <a:srgbClr val="A855F7">
              <a:alpha val="12000"/>
            </a:srgbClr>
          </a:solidFill>
          <a:ln w="9525">
            <a:solidFill>
              <a:srgbClr val="A855F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2285256" y="1054001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A855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2333030" y="1106388"/>
            <a:ext cx="2134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🧠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285256" y="1435001"/>
            <a:ext cx="126574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Extended Thinking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2285256" y="1657201"/>
            <a:ext cx="1265747" cy="1518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깊은 추론 유도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2285256" y="3251597"/>
            <a:ext cx="1240929" cy="206276"/>
          </a:xfrm>
          <a:prstGeom prst="roundRect">
            <a:avLst>
              <a:gd name="adj" fmla="val 24627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2361456" y="3302347"/>
            <a:ext cx="111029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"ultrathink"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3789611" y="892076"/>
            <a:ext cx="1564630" cy="2727722"/>
          </a:xfrm>
          <a:prstGeom prst="roundRect">
            <a:avLst>
              <a:gd name="adj" fmla="val 8117"/>
            </a:avLst>
          </a:prstGeom>
          <a:solidFill>
            <a:srgbClr val="A855F7">
              <a:alpha val="12000"/>
            </a:srgbClr>
          </a:solidFill>
          <a:ln w="9525">
            <a:solidFill>
              <a:srgbClr val="A855F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3951536" y="1054001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A855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3999309" y="1106388"/>
            <a:ext cx="2134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📄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887664" y="1054001"/>
            <a:ext cx="304651" cy="164902"/>
          </a:xfrm>
          <a:prstGeom prst="roundRect">
            <a:avLst>
              <a:gd name="adj" fmla="val 23105"/>
            </a:avLst>
          </a:prstGeom>
          <a:solidFill>
            <a:srgbClr val="22C55E">
              <a:alpha val="3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4951065" y="1079302"/>
            <a:ext cx="1814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86EF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3951536" y="1435001"/>
            <a:ext cx="12655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CLAUDE.md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3951536" y="1657201"/>
            <a:ext cx="1265596" cy="1518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컨텍스트</a:t>
            </a:r>
            <a:endParaRPr lang="en-US" sz="800" dirty="0"/>
          </a:p>
          <a:p>
            <a:pPr marL="0" indent="0" algn="l">
              <a:lnSpc>
                <a:spcPts val="112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300줄 미만 권장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3951536" y="3251597"/>
            <a:ext cx="1240780" cy="206276"/>
          </a:xfrm>
          <a:prstGeom prst="roundRect">
            <a:avLst>
              <a:gd name="adj" fmla="val 24627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027736" y="3302347"/>
            <a:ext cx="11101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/init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5455741" y="892076"/>
            <a:ext cx="1564779" cy="2727722"/>
          </a:xfrm>
          <a:prstGeom prst="roundRect">
            <a:avLst>
              <a:gd name="adj" fmla="val 8116"/>
            </a:avLst>
          </a:prstGeom>
          <a:solidFill>
            <a:srgbClr val="A855F7">
              <a:alpha val="12000"/>
            </a:srgbClr>
          </a:solidFill>
          <a:ln w="9525">
            <a:solidFill>
              <a:srgbClr val="A855F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5617666" y="1054001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A855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5665440" y="1106388"/>
            <a:ext cx="2134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🔄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617666" y="1435001"/>
            <a:ext cx="126574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Context 관리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5617666" y="1657201"/>
            <a:ext cx="1265747" cy="1518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 오버플로우 방지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617666" y="3251597"/>
            <a:ext cx="1240929" cy="206276"/>
          </a:xfrm>
          <a:prstGeom prst="roundRect">
            <a:avLst>
              <a:gd name="adj" fmla="val 24627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5693866" y="3302347"/>
            <a:ext cx="111029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/clear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7122021" y="892076"/>
            <a:ext cx="1564630" cy="2727722"/>
          </a:xfrm>
          <a:prstGeom prst="roundRect">
            <a:avLst>
              <a:gd name="adj" fmla="val 8117"/>
            </a:avLst>
          </a:prstGeom>
          <a:solidFill>
            <a:srgbClr val="A855F7">
              <a:alpha val="12000"/>
            </a:srgbClr>
          </a:solidFill>
          <a:ln w="9525">
            <a:solidFill>
              <a:srgbClr val="A855F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7283946" y="1054001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A855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7331720" y="1106388"/>
            <a:ext cx="2134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7283946" y="1435001"/>
            <a:ext cx="12655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 통합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7283946" y="1657201"/>
            <a:ext cx="1265596" cy="1518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변경사항 추적</a:t>
            </a:r>
            <a:endParaRPr lang="en-US" sz="800" dirty="0"/>
          </a:p>
          <a:p>
            <a:pPr marL="0" indent="0" algn="l">
              <a:lnSpc>
                <a:spcPts val="112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Human Review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7283946" y="3251597"/>
            <a:ext cx="1240780" cy="206276"/>
          </a:xfrm>
          <a:prstGeom prst="roundRect">
            <a:avLst>
              <a:gd name="adj" fmla="val 24627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7360146" y="3302347"/>
            <a:ext cx="11101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diff</a:t>
            </a:r>
            <a:endParaRPr lang="en-US" sz="700" dirty="0"/>
          </a:p>
        </p:txBody>
      </p:sp>
      <p:sp>
        <p:nvSpPr>
          <p:cNvPr id="45" name="Text 42"/>
          <p:cNvSpPr/>
          <p:nvPr/>
        </p:nvSpPr>
        <p:spPr>
          <a:xfrm>
            <a:off x="457200" y="3772198"/>
            <a:ext cx="8229600" cy="514350"/>
          </a:xfrm>
          <a:prstGeom prst="roundRect">
            <a:avLst>
              <a:gd name="adj" fmla="val 19753"/>
            </a:avLst>
          </a:prstGeom>
          <a:solidFill>
            <a:srgbClr val="A855F7">
              <a:alpha val="8000"/>
            </a:srgbClr>
          </a:solidFill>
          <a:ln w="9525">
            <a:solidFill>
              <a:srgbClr val="A855F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3"/>
          <p:cNvSpPr/>
          <p:nvPr/>
        </p:nvSpPr>
        <p:spPr>
          <a:xfrm>
            <a:off x="591833" y="3934123"/>
            <a:ext cx="796033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55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핵심:</a:t>
            </a:r>
            <a:r>
              <a:rPr lang="en-US" sz="1100" dirty="0">
                <a:solidFill>
                  <a:srgbClr val="C4B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AI가 </a:t>
            </a: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올바른 정보를 가지고</a:t>
            </a:r>
            <a:r>
              <a:rPr lang="en-US" sz="1100" dirty="0">
                <a:solidFill>
                  <a:srgbClr val="C4B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추론하도록 환경을 구성 → </a:t>
            </a:r>
            <a:r>
              <a:rPr lang="en-US" sz="1100" dirty="0">
                <a:solidFill>
                  <a:srgbClr val="22C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CLAUDE.md + Plan Mode + Context 관리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457200" y="4413498"/>
            <a:ext cx="1114425" cy="374452"/>
          </a:xfrm>
          <a:prstGeom prst="rect">
            <a:avLst/>
          </a:prstGeom>
          <a:solidFill>
            <a:srgbClr val="A855F7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Shape 45"/>
          <p:cNvSpPr/>
          <p:nvPr/>
        </p:nvSpPr>
        <p:spPr>
          <a:xfrm>
            <a:off x="476250" y="4413498"/>
            <a:ext cx="0" cy="374452"/>
          </a:xfrm>
          <a:prstGeom prst="line">
            <a:avLst/>
          </a:prstGeom>
          <a:noFill/>
          <a:ln w="381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6"/>
          <p:cNvSpPr/>
          <p:nvPr/>
        </p:nvSpPr>
        <p:spPr>
          <a:xfrm>
            <a:off x="647700" y="4514999"/>
            <a:ext cx="7869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855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</a:t>
            </a:r>
            <a:r>
              <a:rPr lang="en-US" sz="1000" b="1" dirty="0" err="1">
                <a:solidFill>
                  <a:srgbClr val="A855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6449169" y="4543574"/>
            <a:ext cx="22823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Source: Anthropic Best Practices, docs.claude.com 2025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638</Words>
  <Application>Microsoft Office PowerPoint</Application>
  <PresentationFormat>화면 슬라이드 쇼(16:9)</PresentationFormat>
  <Paragraphs>212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Malgun Gothic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채성국</cp:lastModifiedBy>
  <cp:revision>8</cp:revision>
  <dcterms:created xsi:type="dcterms:W3CDTF">2025-12-25T13:51:08Z</dcterms:created>
  <dcterms:modified xsi:type="dcterms:W3CDTF">2025-12-25T13:55:55Z</dcterms:modified>
</cp:coreProperties>
</file>